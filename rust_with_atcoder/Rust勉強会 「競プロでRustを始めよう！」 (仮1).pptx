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Roboto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01E83D-3D23-44F9-8B8F-E936F253FEB6}">
  <a:tblStyle styleId="{4E01E83D-3D23-44F9-8B8F-E936F253FE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Mono-bold.fntdata"/><Relationship Id="rId21" Type="http://schemas.openxmlformats.org/officeDocument/2006/relationships/slide" Target="slides/slide15.xml"/><Relationship Id="rId43" Type="http://schemas.openxmlformats.org/officeDocument/2006/relationships/font" Target="fonts/RobotoMono-regular.fntdata"/><Relationship Id="rId24" Type="http://schemas.openxmlformats.org/officeDocument/2006/relationships/slide" Target="slides/slide18.xml"/><Relationship Id="rId46" Type="http://schemas.openxmlformats.org/officeDocument/2006/relationships/font" Target="fonts/RobotoMono-boldItalic.fntdata"/><Relationship Id="rId23" Type="http://schemas.openxmlformats.org/officeDocument/2006/relationships/slide" Target="slides/slide17.xml"/><Relationship Id="rId45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7f9fcbbd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7f9fcbbd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7f9fcbbd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7f9fcbbd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7f9fcbb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7f9fcbb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7f9fcbbd8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7f9fcbbd8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7f9fcbbd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7f9fcbbd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7f9fcbbd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7f9fcbbd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7f9fcbbd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7f9fcbbd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7f9fcbbd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7f9fcbbd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7f9fcbbd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7f9fcbbd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7f9fcbbd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7f9fcbbd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7f9fcbbd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7f9fcbbd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f9fcbbd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7f9fcbbd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7f9fcbbd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7f9fcbbd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7f9fcbbd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7f9fcbbd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7f9fcbbd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7f9fcbbd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7f9fcbbd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7f9fcbbd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7f9fcbbd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7f9fcbbd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7f9fcbbd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7f9fcbbd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7f9fcbbd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7f9fcbbd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7f9fcbbd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7f9fcbbd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7f9fcbbd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7f9fcbbd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7f9fcbbd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7f9fcbbd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7f9fcbbd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7f9fcbbd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7f9fcbbd8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7f9fcbbd8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実践からRustの話に戻る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7f9fcbbd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7f9fcbbd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実践からRustの話に戻る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7f9fcbbd8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7f9fcbbd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7f9fcbbd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7f9fcbbd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7f9fcbbd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7f9fcbbd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7f9fcbbd8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7f9fcbbd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7f9fcbbd8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7f9fcbbd8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7f9fcbbd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7f9fcbbd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7f9fcbbd8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7f9fcbbd8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7f9fcbbd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7f9fcbbd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7f9fcbbd8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7f9fcbbd8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7f9fcbbd8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7f9fcbbd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ja" sz="4500"/>
              <a:t>Rust勉強会</a:t>
            </a:r>
            <a:endParaRPr b="1" sz="4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4500"/>
              <a:t>「競プロでRustを始めよう！」</a:t>
            </a:r>
            <a:r>
              <a:rPr lang="ja" sz="100"/>
              <a:t> </a:t>
            </a:r>
            <a:endParaRPr sz="37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79125"/>
            <a:ext cx="363855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今日の内容とゴール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ja"/>
              <a:t>Rust</a:t>
            </a:r>
            <a:r>
              <a:rPr lang="ja"/>
              <a:t>について知る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ja"/>
              <a:t>Rustに触れてみる（Rustを始める第一歩       ）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ja"/>
              <a:t>競プロを解いてみる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3875" y="1648750"/>
            <a:ext cx="527027" cy="3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428150" y="3378850"/>
            <a:ext cx="7470300" cy="15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帰る時には,,,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「Rustいいな」「使ってみよう」と思っている ハズ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32790" l="11617" r="9673" t="32845"/>
          <a:stretch/>
        </p:blipFill>
        <p:spPr>
          <a:xfrm rot="4483744">
            <a:off x="323187" y="3042647"/>
            <a:ext cx="1246575" cy="54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本日の流れ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ja"/>
              <a:t>Rust / 競プロの紹介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ja"/>
              <a:t>Rustの基本構文について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ja"/>
              <a:t>問題1 / 回答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ja"/>
              <a:t>問題2 / 回答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211"/>
              <a:t>Rustとは？どんな言語か</a:t>
            </a:r>
            <a:endParaRPr sz="3211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静的型付け言語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コンパイル言語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メモリ安全性を重視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GCなしで高速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- コンパイルチェックが厳しい</a:t>
            </a:r>
            <a:endParaRPr/>
          </a:p>
        </p:txBody>
      </p:sp>
      <p:pic>
        <p:nvPicPr>
          <p:cNvPr id="78" name="Google Shape;78;p16" title="スクリーンショット 2026-05-13 0.14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400" y="201238"/>
            <a:ext cx="1070281" cy="10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スクリーンショット 2026-05-13 0.15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4850" y="3300400"/>
            <a:ext cx="2390200" cy="15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211"/>
              <a:t>Rustと</a:t>
            </a:r>
            <a:r>
              <a:rPr lang="ja" sz="3211"/>
              <a:t>いえば、、、</a:t>
            </a:r>
            <a:endParaRPr sz="3211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- </a:t>
            </a:r>
            <a:r>
              <a:rPr b="1" lang="ja">
                <a:solidFill>
                  <a:schemeClr val="dk1"/>
                </a:solidFill>
              </a:rPr>
              <a:t>早い！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- </a:t>
            </a:r>
            <a:r>
              <a:rPr b="1" lang="ja"/>
              <a:t>安全！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- コンパイルチェックが</a:t>
            </a:r>
            <a:r>
              <a:rPr lang="ja"/>
              <a:t>通らない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- </a:t>
            </a:r>
            <a:r>
              <a:rPr b="1" lang="ja">
                <a:solidFill>
                  <a:schemeClr val="dk1"/>
                </a:solidFill>
              </a:rPr>
              <a:t>所有権 / 借用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ライフタイム</a:t>
            </a:r>
            <a:endParaRPr/>
          </a:p>
        </p:txBody>
      </p:sp>
      <p:pic>
        <p:nvPicPr>
          <p:cNvPr id="86" name="Google Shape;86;p17" title="スクリーンショット 2026-05-13 0.14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400" y="201238"/>
            <a:ext cx="1070281" cy="10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スクリーンショット 2026-05-13 0.15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4850" y="3300400"/>
            <a:ext cx="2390200" cy="15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211"/>
              <a:t>Rustへの評価</a:t>
            </a:r>
            <a:endParaRPr sz="3211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378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300"/>
              <a:t>Rustは最も高い</a:t>
            </a:r>
            <a:r>
              <a:rPr lang="ja" sz="2300"/>
              <a:t>72%で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300"/>
              <a:t>評価される言語。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300"/>
              <a:t>去年も83%という高く評価されている。</a:t>
            </a:r>
            <a:endParaRPr sz="230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2702400" y="4756200"/>
            <a:ext cx="64416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SzPct val="69454"/>
              <a:buNone/>
            </a:pPr>
            <a:r>
              <a:rPr lang="ja" sz="1465"/>
              <a:t>https://survey.stackoverflow.co/2025/technology?utm_source=chatgpt.com#admired-and-desired</a:t>
            </a:r>
            <a:endParaRPr sz="1465"/>
          </a:p>
        </p:txBody>
      </p:sp>
      <p:pic>
        <p:nvPicPr>
          <p:cNvPr id="95" name="Google Shape;95;p18" title="スクリーンショット 2026-05-13 0.28.34.png"/>
          <p:cNvPicPr preferRelativeResize="0"/>
          <p:nvPr/>
        </p:nvPicPr>
        <p:blipFill rotWithShape="1">
          <a:blip r:embed="rId3">
            <a:alphaModFix/>
          </a:blip>
          <a:srcRect b="0" l="32510" r="0" t="0"/>
          <a:stretch/>
        </p:blipFill>
        <p:spPr>
          <a:xfrm>
            <a:off x="4878201" y="1152475"/>
            <a:ext cx="4176002" cy="331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 title="スクリーンショット 2026-05-13 0.28.34.png"/>
          <p:cNvPicPr preferRelativeResize="0"/>
          <p:nvPr/>
        </p:nvPicPr>
        <p:blipFill rotWithShape="1">
          <a:blip r:embed="rId3">
            <a:alphaModFix/>
          </a:blip>
          <a:srcRect b="0" l="0" r="88215" t="0"/>
          <a:stretch/>
        </p:blipFill>
        <p:spPr>
          <a:xfrm>
            <a:off x="4149002" y="1152475"/>
            <a:ext cx="729200" cy="331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889650" y="1732950"/>
            <a:ext cx="7364700" cy="16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今日の題材について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競技プログラミング（AtCoder）って？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211"/>
              <a:t>競技プログラミングについて</a:t>
            </a:r>
            <a:endParaRPr sz="3211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何を競うのか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- </a:t>
            </a:r>
            <a:r>
              <a:rPr lang="ja"/>
              <a:t>制限時間内に実行できるか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</a:t>
            </a:r>
            <a:r>
              <a:rPr lang="ja"/>
              <a:t>メモリ制限内に収まるか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</a:t>
            </a:r>
            <a:r>
              <a:rPr lang="ja"/>
              <a:t>どれだけ早く解けるか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211"/>
              <a:t>有名な競技プログラミング</a:t>
            </a:r>
            <a:endParaRPr sz="3211"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23250"/>
            <a:ext cx="2574550" cy="217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 rotWithShape="1">
          <a:blip r:embed="rId4">
            <a:alphaModFix/>
          </a:blip>
          <a:srcRect b="8755" l="0" r="0" t="6821"/>
          <a:stretch/>
        </p:blipFill>
        <p:spPr>
          <a:xfrm>
            <a:off x="3168100" y="1923250"/>
            <a:ext cx="2574550" cy="2173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 rotWithShape="1">
          <a:blip r:embed="rId5">
            <a:alphaModFix/>
          </a:blip>
          <a:srcRect b="0" l="0" r="0" t="8975"/>
          <a:stretch/>
        </p:blipFill>
        <p:spPr>
          <a:xfrm>
            <a:off x="6024500" y="2202025"/>
            <a:ext cx="2807801" cy="17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AtCoderについて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07975" y="1310850"/>
            <a:ext cx="5808600" cy="3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日本語向け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競技プログラミングサービスの定番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わかりやすい回答解説も豊富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950" y="1310850"/>
            <a:ext cx="2574550" cy="21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1444050" y="1564200"/>
            <a:ext cx="6255900" cy="20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ja"/>
              <a:t>本日は、、、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AtCoderの問題を通してRustを学ぶ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ja"/>
              <a:t>Let's GO 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211"/>
              <a:t>事前準備</a:t>
            </a:r>
            <a:endParaRPr sz="3211"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- Rustのインストール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- VSCode ＋ Rust拡張機能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- AtCoderのアカウント作成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Hello World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 title="スクリーンショット 2026-05-13 1.08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8450"/>
            <a:ext cx="8520601" cy="2246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変数宣言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 title="スクリーンショット 2026-05-13 1.12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99662"/>
            <a:ext cx="8520600" cy="1817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変数宣言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 title="スクリーンショット 2026-05-13 1.15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63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52675" y="137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型について</a:t>
            </a:r>
            <a:endParaRPr/>
          </a:p>
        </p:txBody>
      </p:sp>
      <p:graphicFrame>
        <p:nvGraphicFramePr>
          <p:cNvPr id="160" name="Google Shape;160;p28"/>
          <p:cNvGraphicFramePr/>
          <p:nvPr/>
        </p:nvGraphicFramePr>
        <p:xfrm>
          <a:off x="281275" y="81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{4E01E83D-3D23-44F9-8B8F-E936F253FEB6}</a:tableStyleId>
              </a:tblPr>
              <a:tblGrid>
                <a:gridCol w="767575"/>
                <a:gridCol w="813775"/>
                <a:gridCol w="2548200"/>
                <a:gridCol w="4451875"/>
              </a:tblGrid>
              <a:tr h="26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000"/>
                        <a:t>分類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000"/>
                        <a:t>型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000"/>
                        <a:t>例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000"/>
                        <a:t>説明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整数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i32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 x: i32 = -10;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符号付き整数。負の数も扱える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整数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i64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 x: i64 = 1_000_000_000;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大きめの符号付き整数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整数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u32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 x: u32 = 10;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符号なし整数。0以上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整数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u64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 x: u64 = 10;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大きめの符号なし整数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整数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usize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 i: usize = 0;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配列・Vec の添字や長さに使う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小数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f32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 x: f32 = 1.5;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単精度浮動小数点数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小数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f64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 x: f64 = 1.5;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倍精度浮動小数点数。小数の標準的な型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真偽値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bool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 ok: bool = true;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r>
                        <a:rPr lang="ja" sz="1000"/>
                        <a:t> / </a:t>
                      </a: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false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文字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 c: char = 'あ';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1つの Unicode 文字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文字列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String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String::from("hello")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所有権を持つ、変更可能な文字列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文字列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&amp;str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"hello"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文字列スライス。借用された文字列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型について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今日扱う型は下の3つだけ！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623400" y="1853775"/>
            <a:ext cx="8520600" cy="21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usize　0 から 2^64 -1 の整数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- String   変更可能な文字列, 可変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- &amp;str　   文字列の参照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if文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0" title="スクリーンショット 2026-05-13 1.30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0550"/>
            <a:ext cx="8520602" cy="18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for</a:t>
            </a:r>
            <a:r>
              <a:rPr lang="ja"/>
              <a:t>文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1" title="スクリーンショット 2026-05-13 1.32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67100"/>
            <a:ext cx="8520601" cy="140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標準入力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2650200" y="392250"/>
            <a:ext cx="61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2" title="スクリーンショット 2026-05-13 1.35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5926"/>
            <a:ext cx="8520600" cy="384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2440500" y="2285400"/>
            <a:ext cx="42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問題を解いてみよう！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ABCコンテスト 330 A問題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478225"/>
            <a:ext cx="8520600" cy="30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4"/>
          <p:cNvSpPr txBox="1"/>
          <p:nvPr>
            <p:ph type="title"/>
          </p:nvPr>
        </p:nvSpPr>
        <p:spPr>
          <a:xfrm>
            <a:off x="3500475" y="4682975"/>
            <a:ext cx="54324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800"/>
              <a:t>https://atcoder.jp/contests/abc330/tasks/abc330_a</a:t>
            </a:r>
            <a:endParaRPr sz="1800"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24" y="1017713"/>
            <a:ext cx="5543926" cy="36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330 A問題（回答）</a:t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5" title="スクリーンショット 2026-05-13 1.43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78575"/>
            <a:ext cx="8520601" cy="228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5" title="スクリーンショット 2026-05-13 6.18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512275"/>
            <a:ext cx="8520601" cy="1364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330 A問題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多言語との実行時間比較</a:t>
            </a:r>
            <a:endParaRPr/>
          </a:p>
        </p:txBody>
      </p:sp>
      <p:pic>
        <p:nvPicPr>
          <p:cNvPr id="216" name="Google Shape;216;p36" title="スクリーンショット 2026-05-13 8.02.38.png"/>
          <p:cNvPicPr preferRelativeResize="0"/>
          <p:nvPr/>
        </p:nvPicPr>
        <p:blipFill rotWithShape="1">
          <a:blip r:embed="rId3">
            <a:alphaModFix/>
          </a:blip>
          <a:srcRect b="5044" l="0" r="0" t="5044"/>
          <a:stretch/>
        </p:blipFill>
        <p:spPr>
          <a:xfrm>
            <a:off x="311700" y="1861100"/>
            <a:ext cx="8520598" cy="24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所有権・借用について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428437"/>
            <a:ext cx="85206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所有権とは、、、</a:t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895237"/>
            <a:ext cx="85206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 sz="3200"/>
              <a:t>値を管理しているのが誰かを示すこと</a:t>
            </a:r>
            <a:endParaRPr sz="3200"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2861050"/>
            <a:ext cx="85206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借用</a:t>
            </a:r>
            <a:r>
              <a:rPr lang="ja"/>
              <a:t>とは、、、</a:t>
            </a:r>
            <a:endParaRPr/>
          </a:p>
        </p:txBody>
      </p:sp>
      <p:sp>
        <p:nvSpPr>
          <p:cNvPr id="225" name="Google Shape;225;p37"/>
          <p:cNvSpPr txBox="1"/>
          <p:nvPr>
            <p:ph idx="1" type="body"/>
          </p:nvPr>
        </p:nvSpPr>
        <p:spPr>
          <a:xfrm>
            <a:off x="311700" y="3327850"/>
            <a:ext cx="85206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 sz="3200"/>
              <a:t>参照を作って値を使わせること</a:t>
            </a:r>
            <a:endParaRPr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所有権について</a:t>
            </a:r>
            <a:endParaRPr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1264200" y="4414275"/>
            <a:ext cx="11223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代入</a:t>
            </a:r>
            <a:endParaRPr/>
          </a:p>
        </p:txBody>
      </p:sp>
      <p:sp>
        <p:nvSpPr>
          <p:cNvPr id="232" name="Google Shape;232;p38"/>
          <p:cNvSpPr/>
          <p:nvPr/>
        </p:nvSpPr>
        <p:spPr>
          <a:xfrm>
            <a:off x="614650" y="3240913"/>
            <a:ext cx="1341000" cy="10137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変数x</a:t>
            </a:r>
            <a:endParaRPr/>
          </a:p>
        </p:txBody>
      </p:sp>
      <p:sp>
        <p:nvSpPr>
          <p:cNvPr id="233" name="Google Shape;233;p38"/>
          <p:cNvSpPr/>
          <p:nvPr/>
        </p:nvSpPr>
        <p:spPr>
          <a:xfrm>
            <a:off x="2012730" y="2496408"/>
            <a:ext cx="1256400" cy="50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2026(値)</a:t>
            </a:r>
            <a:endParaRPr/>
          </a:p>
        </p:txBody>
      </p:sp>
      <p:pic>
        <p:nvPicPr>
          <p:cNvPr id="234" name="Google Shape;234;p38"/>
          <p:cNvPicPr preferRelativeResize="0"/>
          <p:nvPr/>
        </p:nvPicPr>
        <p:blipFill rotWithShape="1">
          <a:blip r:embed="rId3">
            <a:alphaModFix/>
          </a:blip>
          <a:srcRect b="32790" l="11617" r="9673" t="32845"/>
          <a:stretch/>
        </p:blipFill>
        <p:spPr>
          <a:xfrm rot="9197927">
            <a:off x="1067349" y="2859518"/>
            <a:ext cx="975627" cy="41593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8"/>
          <p:cNvSpPr/>
          <p:nvPr/>
        </p:nvSpPr>
        <p:spPr>
          <a:xfrm>
            <a:off x="4366650" y="3241475"/>
            <a:ext cx="1341000" cy="10137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2026(</a:t>
            </a:r>
            <a:r>
              <a:rPr lang="ja"/>
              <a:t>値</a:t>
            </a:r>
            <a:r>
              <a:rPr lang="ja"/>
              <a:t>)</a:t>
            </a:r>
            <a:endParaRPr/>
          </a:p>
        </p:txBody>
      </p:sp>
      <p:sp>
        <p:nvSpPr>
          <p:cNvPr id="236" name="Google Shape;236;p38"/>
          <p:cNvSpPr/>
          <p:nvPr/>
        </p:nvSpPr>
        <p:spPr>
          <a:xfrm>
            <a:off x="7005950" y="3240925"/>
            <a:ext cx="953400" cy="629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変数x</a:t>
            </a:r>
            <a:endParaRPr/>
          </a:p>
        </p:txBody>
      </p:sp>
      <p:sp>
        <p:nvSpPr>
          <p:cNvPr id="237" name="Google Shape;237;p38"/>
          <p:cNvSpPr/>
          <p:nvPr/>
        </p:nvSpPr>
        <p:spPr>
          <a:xfrm rot="-5400000">
            <a:off x="6596900" y="3463425"/>
            <a:ext cx="631500" cy="1866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38"/>
          <p:cNvCxnSpPr>
            <a:stCxn id="235" idx="1"/>
            <a:endCxn id="237" idx="0"/>
          </p:cNvCxnSpPr>
          <p:nvPr/>
        </p:nvCxnSpPr>
        <p:spPr>
          <a:xfrm flipH="1" rot="-5400000">
            <a:off x="5833988" y="2571350"/>
            <a:ext cx="61800" cy="1908900"/>
          </a:xfrm>
          <a:prstGeom prst="curvedConnector4">
            <a:avLst>
              <a:gd fmla="val -795388" name="adj1"/>
              <a:gd fmla="val 7088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5883650" y="4414275"/>
            <a:ext cx="11223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束縛</a:t>
            </a:r>
            <a:endParaRPr/>
          </a:p>
        </p:txBody>
      </p:sp>
      <p:sp>
        <p:nvSpPr>
          <p:cNvPr id="240" name="Google Shape;240;p38"/>
          <p:cNvSpPr txBox="1"/>
          <p:nvPr>
            <p:ph idx="1" type="body"/>
          </p:nvPr>
        </p:nvSpPr>
        <p:spPr>
          <a:xfrm>
            <a:off x="399575" y="1309300"/>
            <a:ext cx="3410400" cy="11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箱(変数)を作って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その中に値を入れる</a:t>
            </a:r>
            <a:endParaRPr/>
          </a:p>
        </p:txBody>
      </p:sp>
      <p:cxnSp>
        <p:nvCxnSpPr>
          <p:cNvPr id="241" name="Google Shape;241;p38"/>
          <p:cNvCxnSpPr/>
          <p:nvPr/>
        </p:nvCxnSpPr>
        <p:spPr>
          <a:xfrm>
            <a:off x="3953375" y="1095875"/>
            <a:ext cx="1800" cy="381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4256150" y="1309300"/>
            <a:ext cx="4633800" cy="11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メモリに値をセット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そこにラベル（変数）を付ける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ja"/>
              <a:t>所有権について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pic>
        <p:nvPicPr>
          <p:cNvPr id="248" name="Google Shape;248;p39" title="スクリーンショット 2026-05-13 6.27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5975"/>
            <a:ext cx="8520601" cy="158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9"/>
          <p:cNvSpPr/>
          <p:nvPr/>
        </p:nvSpPr>
        <p:spPr>
          <a:xfrm>
            <a:off x="522200" y="3555225"/>
            <a:ext cx="1704600" cy="10137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“Hello, world!”</a:t>
            </a:r>
            <a:endParaRPr/>
          </a:p>
        </p:txBody>
      </p:sp>
      <p:sp>
        <p:nvSpPr>
          <p:cNvPr id="250" name="Google Shape;250;p39"/>
          <p:cNvSpPr/>
          <p:nvPr/>
        </p:nvSpPr>
        <p:spPr>
          <a:xfrm>
            <a:off x="3161500" y="3554675"/>
            <a:ext cx="953400" cy="629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変数s</a:t>
            </a:r>
            <a:endParaRPr/>
          </a:p>
        </p:txBody>
      </p:sp>
      <p:sp>
        <p:nvSpPr>
          <p:cNvPr id="251" name="Google Shape;251;p39"/>
          <p:cNvSpPr/>
          <p:nvPr/>
        </p:nvSpPr>
        <p:spPr>
          <a:xfrm rot="-5400000">
            <a:off x="2752450" y="3777175"/>
            <a:ext cx="631500" cy="1866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" name="Google Shape;252;p39"/>
          <p:cNvCxnSpPr>
            <a:stCxn id="249" idx="1"/>
            <a:endCxn id="251" idx="0"/>
          </p:cNvCxnSpPr>
          <p:nvPr/>
        </p:nvCxnSpPr>
        <p:spPr>
          <a:xfrm flipH="1" rot="-5400000">
            <a:off x="2080438" y="2976000"/>
            <a:ext cx="61800" cy="1727100"/>
          </a:xfrm>
          <a:prstGeom prst="curvedConnector4">
            <a:avLst>
              <a:gd fmla="val -795388" name="adj1"/>
              <a:gd fmla="val 7834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39"/>
          <p:cNvCxnSpPr/>
          <p:nvPr/>
        </p:nvCxnSpPr>
        <p:spPr>
          <a:xfrm flipH="1">
            <a:off x="4572950" y="3155875"/>
            <a:ext cx="17400" cy="168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39"/>
          <p:cNvSpPr/>
          <p:nvPr/>
        </p:nvSpPr>
        <p:spPr>
          <a:xfrm>
            <a:off x="4805925" y="3675963"/>
            <a:ext cx="1704600" cy="10137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“Hello, world!”</a:t>
            </a:r>
            <a:endParaRPr/>
          </a:p>
        </p:txBody>
      </p:sp>
      <p:sp>
        <p:nvSpPr>
          <p:cNvPr id="255" name="Google Shape;255;p39"/>
          <p:cNvSpPr/>
          <p:nvPr/>
        </p:nvSpPr>
        <p:spPr>
          <a:xfrm>
            <a:off x="7456675" y="3313750"/>
            <a:ext cx="953400" cy="629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変数s</a:t>
            </a:r>
            <a:endParaRPr/>
          </a:p>
        </p:txBody>
      </p:sp>
      <p:sp>
        <p:nvSpPr>
          <p:cNvPr id="256" name="Google Shape;256;p39"/>
          <p:cNvSpPr/>
          <p:nvPr/>
        </p:nvSpPr>
        <p:spPr>
          <a:xfrm rot="-5400000">
            <a:off x="7047625" y="3536250"/>
            <a:ext cx="631500" cy="1866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39"/>
          <p:cNvCxnSpPr>
            <a:stCxn id="254" idx="1"/>
            <a:endCxn id="258" idx="0"/>
          </p:cNvCxnSpPr>
          <p:nvPr/>
        </p:nvCxnSpPr>
        <p:spPr>
          <a:xfrm flipH="1" rot="-5400000">
            <a:off x="6257063" y="3203838"/>
            <a:ext cx="472500" cy="1923600"/>
          </a:xfrm>
          <a:prstGeom prst="curvedConnector4">
            <a:avLst>
              <a:gd fmla="val -104032" name="adj1"/>
              <a:gd fmla="val 7545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9"/>
          <p:cNvSpPr/>
          <p:nvPr/>
        </p:nvSpPr>
        <p:spPr>
          <a:xfrm>
            <a:off x="7641800" y="4085938"/>
            <a:ext cx="953400" cy="629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変数s2</a:t>
            </a:r>
            <a:endParaRPr/>
          </a:p>
        </p:txBody>
      </p:sp>
      <p:sp>
        <p:nvSpPr>
          <p:cNvPr id="258" name="Google Shape;258;p39"/>
          <p:cNvSpPr/>
          <p:nvPr/>
        </p:nvSpPr>
        <p:spPr>
          <a:xfrm rot="-5400000">
            <a:off x="7232750" y="4308438"/>
            <a:ext cx="631500" cy="1866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所有権・借用</a:t>
            </a:r>
            <a:r>
              <a:rPr lang="ja"/>
              <a:t>について</a:t>
            </a:r>
            <a:endParaRPr/>
          </a:p>
        </p:txBody>
      </p:sp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文字列sを何回も使いたいが、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所有権を消費してしまっているのでError (困った)</a:t>
            </a:r>
            <a:endParaRPr/>
          </a:p>
        </p:txBody>
      </p:sp>
      <p:pic>
        <p:nvPicPr>
          <p:cNvPr id="266" name="Google Shape;266;p40" title="スクリーンショット 2026-05-13 6.29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66450"/>
            <a:ext cx="8520600" cy="220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所有権・借用</a:t>
            </a:r>
            <a:r>
              <a:rPr lang="ja"/>
              <a:t>について</a:t>
            </a:r>
            <a:endParaRPr/>
          </a:p>
        </p:txBody>
      </p:sp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文字列sの参照を借用することで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文字列sの値を何回も使えるようになる</a:t>
            </a:r>
            <a:endParaRPr/>
          </a:p>
        </p:txBody>
      </p:sp>
      <p:pic>
        <p:nvPicPr>
          <p:cNvPr id="273" name="Google Shape;273;p41" title="スクリーンショット 2026-05-13 6.30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46300"/>
            <a:ext cx="8520601" cy="232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2255400" y="2285400"/>
            <a:ext cx="46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問題を解いてみよう！2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311700" y="1048625"/>
            <a:ext cx="85206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800"/>
              <a:t>https://atcoder.jp/contests/abc149/tasks/abc149_a</a:t>
            </a:r>
            <a:endParaRPr sz="2600"/>
          </a:p>
        </p:txBody>
      </p:sp>
      <p:sp>
        <p:nvSpPr>
          <p:cNvPr id="284" name="Google Shape;284;p43"/>
          <p:cNvSpPr txBox="1"/>
          <p:nvPr>
            <p:ph type="title"/>
          </p:nvPr>
        </p:nvSpPr>
        <p:spPr>
          <a:xfrm>
            <a:off x="311700" y="445025"/>
            <a:ext cx="85206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ABCコンテスト 149 A問題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sp>
        <p:nvSpPr>
          <p:cNvPr id="285" name="Google Shape;285;p43"/>
          <p:cNvSpPr txBox="1"/>
          <p:nvPr>
            <p:ph type="title"/>
          </p:nvPr>
        </p:nvSpPr>
        <p:spPr>
          <a:xfrm>
            <a:off x="311700" y="2613824"/>
            <a:ext cx="85206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 sz="1800"/>
              <a:t>https://atcoder.jp/contests/abc103/tasks/abc103_b</a:t>
            </a:r>
            <a:endParaRPr sz="2600"/>
          </a:p>
        </p:txBody>
      </p:sp>
      <p:sp>
        <p:nvSpPr>
          <p:cNvPr id="286" name="Google Shape;286;p43"/>
          <p:cNvSpPr txBox="1"/>
          <p:nvPr>
            <p:ph type="title"/>
          </p:nvPr>
        </p:nvSpPr>
        <p:spPr>
          <a:xfrm>
            <a:off x="311700" y="2010224"/>
            <a:ext cx="85206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ABCコンテスト 103 B問題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149 A問題（回答）</a:t>
            </a:r>
            <a:endParaRPr/>
          </a:p>
        </p:txBody>
      </p:sp>
      <p:sp>
        <p:nvSpPr>
          <p:cNvPr id="292" name="Google Shape;29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44" title="スクリーンショット 2026-05-13 6.40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63962"/>
            <a:ext cx="8520599" cy="141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149 A</a:t>
            </a:r>
            <a:r>
              <a:rPr lang="ja"/>
              <a:t>問題</a:t>
            </a:r>
            <a:r>
              <a:rPr lang="ja"/>
              <a:t>（回答）</a:t>
            </a:r>
            <a:endParaRPr/>
          </a:p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文字列の二項演算について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String(1)からStrign(2)へ所有権が移動する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String(2) = String(1) + &amp;str</a:t>
            </a:r>
            <a:endParaRPr/>
          </a:p>
        </p:txBody>
      </p:sp>
      <p:pic>
        <p:nvPicPr>
          <p:cNvPr id="300" name="Google Shape;300;p45" title="スクリーンショット 2026-05-13 6.42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141925"/>
            <a:ext cx="8520601" cy="142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103 </a:t>
            </a:r>
            <a:r>
              <a:rPr lang="ja"/>
              <a:t>B問題 </a:t>
            </a:r>
            <a:endParaRPr/>
          </a:p>
        </p:txBody>
      </p:sp>
      <p:sp>
        <p:nvSpPr>
          <p:cNvPr id="306" name="Google Shape;306;p46"/>
          <p:cNvSpPr txBox="1"/>
          <p:nvPr>
            <p:ph idx="1" type="body"/>
          </p:nvPr>
        </p:nvSpPr>
        <p:spPr>
          <a:xfrm>
            <a:off x="495325" y="1144725"/>
            <a:ext cx="8520600" cy="13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Hint💡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「回転した文字列のパターンについて」</a:t>
            </a:r>
            <a:endParaRPr/>
          </a:p>
        </p:txBody>
      </p:sp>
      <p:sp>
        <p:nvSpPr>
          <p:cNvPr id="307" name="Google Shape;307;p46"/>
          <p:cNvSpPr txBox="1"/>
          <p:nvPr>
            <p:ph idx="1" type="body"/>
          </p:nvPr>
        </p:nvSpPr>
        <p:spPr>
          <a:xfrm>
            <a:off x="713950" y="2257475"/>
            <a:ext cx="8520600" cy="12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Sを2回繋げると</a:t>
            </a:r>
            <a:r>
              <a:rPr lang="ja"/>
              <a:t>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繋げた文字列中に</a:t>
            </a:r>
            <a:r>
              <a:rPr lang="ja"/>
              <a:t>全てのパターンが現れる！</a:t>
            </a:r>
            <a:endParaRPr/>
          </a:p>
        </p:txBody>
      </p:sp>
      <p:sp>
        <p:nvSpPr>
          <p:cNvPr id="308" name="Google Shape;308;p46"/>
          <p:cNvSpPr/>
          <p:nvPr/>
        </p:nvSpPr>
        <p:spPr>
          <a:xfrm>
            <a:off x="438550" y="1190875"/>
            <a:ext cx="1021200" cy="4935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6"/>
          <p:cNvSpPr txBox="1"/>
          <p:nvPr>
            <p:ph idx="1" type="body"/>
          </p:nvPr>
        </p:nvSpPr>
        <p:spPr>
          <a:xfrm>
            <a:off x="713950" y="3597650"/>
            <a:ext cx="8520600" cy="13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文字列一致判定は👇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String</a:t>
            </a:r>
            <a:r>
              <a:rPr lang="ja"/>
              <a:t>型.contains(&amp;str型) </a:t>
            </a:r>
            <a:endParaRPr/>
          </a:p>
        </p:txBody>
      </p:sp>
      <p:cxnSp>
        <p:nvCxnSpPr>
          <p:cNvPr id="310" name="Google Shape;310;p46"/>
          <p:cNvCxnSpPr/>
          <p:nvPr/>
        </p:nvCxnSpPr>
        <p:spPr>
          <a:xfrm>
            <a:off x="744625" y="3363341"/>
            <a:ext cx="8022000" cy="1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103 B問題 (回答)</a:t>
            </a:r>
            <a:endParaRPr/>
          </a:p>
        </p:txBody>
      </p:sp>
      <p:sp>
        <p:nvSpPr>
          <p:cNvPr id="316" name="Google Shape;31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47" title="スクリーンショット 2026-05-13 6.48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25725"/>
            <a:ext cx="8520601" cy="209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/>
              <a:t>まとめ</a:t>
            </a:r>
            <a:endParaRPr/>
          </a:p>
        </p:txBody>
      </p:sp>
      <p:sp>
        <p:nvSpPr>
          <p:cNvPr id="323" name="Google Shape;32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✅ </a:t>
            </a:r>
            <a:r>
              <a:rPr lang="ja"/>
              <a:t>Rustについて知</a:t>
            </a:r>
            <a:r>
              <a:rPr lang="ja"/>
              <a:t>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✅ </a:t>
            </a:r>
            <a:r>
              <a:rPr lang="ja"/>
              <a:t>Rustに触れてみる（Rustを始める第一歩       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✅ </a:t>
            </a:r>
            <a:r>
              <a:rPr lang="ja"/>
              <a:t>競プロを解いてみる</a:t>
            </a:r>
            <a:endParaRPr/>
          </a:p>
        </p:txBody>
      </p:sp>
      <p:pic>
        <p:nvPicPr>
          <p:cNvPr id="324" name="Google Shape;32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425" y="1804950"/>
            <a:ext cx="527027" cy="3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8" title="スクリーンショット 2026-05-13 0.15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2450" y="3424275"/>
            <a:ext cx="2390200" cy="1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8"/>
          <p:cNvSpPr txBox="1"/>
          <p:nvPr>
            <p:ph idx="1" type="body"/>
          </p:nvPr>
        </p:nvSpPr>
        <p:spPr>
          <a:xfrm>
            <a:off x="2910900" y="3424275"/>
            <a:ext cx="4620600" cy="11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 sz="3200"/>
              <a:t>「Rustを使いたい！」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